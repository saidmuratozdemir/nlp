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_rels/presentation.xml.rels" ContentType="application/vnd.openxmlformats-package.relationships+xml"/>
  <Override PartName="/customXml/itemProps3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7559675" cy="10691812"/>
</p:presentation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customXml" Target="../customXml/item1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customXml" Target="../customXml/item3.xml"/><Relationship Id="rId1" Type="http://schemas.openxmlformats.org/officeDocument/2006/relationships/theme" Target="theme/theme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19760" cy="2652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19760" cy="2652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5200" spc="-1" strike="noStrike">
                <a:solidFill>
                  <a:srgbClr val="000000"/>
                </a:solidFill>
                <a:latin typeface="Montserrat"/>
                <a:ea typeface="Montserrat"/>
              </a:rPr>
              <a:t>Course Overview</a:t>
            </a:r>
            <a:endParaRPr b="0" lang="en-US" sz="52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311760" y="2834280"/>
            <a:ext cx="8519760" cy="1134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tr-TR" sz="2800" spc="-1" strike="noStrike">
                <a:solidFill>
                  <a:srgbClr val="595959"/>
                </a:solidFill>
                <a:latin typeface="Arial"/>
                <a:ea typeface="Arial"/>
              </a:rPr>
              <a:t>NLP – Natural Language Processing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tr-TR" sz="2800" spc="-1" strike="noStrike">
                <a:solidFill>
                  <a:srgbClr val="595959"/>
                </a:solidFill>
                <a:latin typeface="Arial"/>
                <a:ea typeface="Arial"/>
              </a:rPr>
              <a:t>Prof. Dr. Melih Günay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1042560" y="29592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NLP with Python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572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●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Before we begin the course, let’s build an understanding of our learning path</a:t>
            </a:r>
            <a:r>
              <a:rPr b="0" lang="tr-TR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 </a:t>
            </a: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!</a:t>
            </a:r>
            <a:endParaRPr b="0" lang="en-US" sz="29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900" spc="-1" strike="noStrike">
              <a:latin typeface="Arial"/>
            </a:endParaRPr>
          </a:p>
          <a:p>
            <a:pPr marL="4572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●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This lecture will be brief overview of the main topics and structure of the curriculum of the course.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388080" y="295920"/>
            <a:ext cx="844344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Course Sections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69120" y="1011960"/>
            <a:ext cx="9011520" cy="36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Python Text Basics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NLP Python Basics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Parts of Speech Tagging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Text Classification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Semantics and Sentiment Analysis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Topic Modeling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ChatBots and Advanced Material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tr-TR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LSTM, Transformers - BERT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311760" y="295920"/>
            <a:ext cx="85197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Python Text Basics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We’ll learn the basics of Python’s text capabilities.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Opening Text Files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Working with PDF Files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Regular Expressions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311760" y="28836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NLP Python Basics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Deeper dive into Spacy and NLTK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Two most popular NLP libraries for Python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11760" y="28836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NLP Python Basics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Spacy Pipelines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Tokenizations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Stemming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Lemmatizations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Stop Words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Vocabulary and Phrase Matching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311760" y="28836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Parts of Speech Tagging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Parts-of-Speech (POS)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Named Entity Recognition (NER)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Sentence Segmentation with Spacy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Visualization of POS and NER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311760" y="34416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Text Classification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SciKit-Learn for Machine Learning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Text Feature Extraction</a:t>
            </a:r>
            <a:endParaRPr b="0" lang="en-US" sz="2900" spc="-1" strike="noStrike">
              <a:latin typeface="Arial"/>
            </a:endParaRPr>
          </a:p>
          <a:p>
            <a:pPr lvl="2" marL="13716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■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Count Vectorization</a:t>
            </a:r>
            <a:endParaRPr b="0" lang="en-US" sz="2900" spc="-1" strike="noStrike">
              <a:latin typeface="Arial"/>
            </a:endParaRPr>
          </a:p>
          <a:p>
            <a:pPr lvl="2" marL="13716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■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TF-IDF Vectorizations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Text Classification Projects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311760" y="35136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Semantics and Sentiment Analysis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Semantics and Word Vectors (Word2Vec)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Sentiment Analysis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432720" y="28836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Topic Modeling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Latent Dirichlet Allocation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Non-negative Matrix Factorization</a:t>
            </a:r>
            <a:endParaRPr b="0" lang="en-US" sz="29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Topic Modelling Projects with LDA and NMF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536760" y="35820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ChatBots and Advanced Material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Deep Learning Section focusing on Chat Bots 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Miscellaneous Advanced Material</a:t>
            </a: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" sz="5200" spc="-1" strike="noStrike">
                <a:solidFill>
                  <a:srgbClr val="000000"/>
                </a:solidFill>
                <a:latin typeface="Montserrat"/>
                <a:ea typeface="Montserrat"/>
              </a:rPr>
              <a:t>Course Installation </a:t>
            </a:r>
            <a:br/>
            <a:r>
              <a:rPr b="1" lang="en" sz="5200" spc="-1" strike="noStrike">
                <a:solidFill>
                  <a:srgbClr val="000000"/>
                </a:solidFill>
                <a:latin typeface="Montserrat"/>
                <a:ea typeface="Montserrat"/>
              </a:rPr>
              <a:t>and Setup</a:t>
            </a:r>
            <a:endParaRPr b="0" lang="en-US" sz="5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1042560" y="29592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4280">
              <a:lnSpc>
                <a:spcPct val="100000"/>
              </a:lnSpc>
            </a:pPr>
            <a:r>
              <a:rPr b="0" lang="en-US" sz="2800" spc="-1" strike="noStrike">
                <a:solidFill>
                  <a:srgbClr val="434343"/>
                </a:solidFill>
                <a:latin typeface="Montserrat"/>
                <a:ea typeface="Montserrat"/>
              </a:rPr>
              <a:t>Let’s get you set up for the course!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Download and Install Anaconda</a:t>
            </a:r>
            <a:r>
              <a:rPr b="0" lang="tr-TR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*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Create a virtual environment</a:t>
            </a: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Open Jupyter Notebook</a:t>
            </a:r>
            <a:endParaRPr b="0" lang="en-US" sz="29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900" spc="-1" strike="noStrike">
              <a:latin typeface="Arial"/>
            </a:endParaRPr>
          </a:p>
          <a:p>
            <a:pPr lvl="1" marL="914400" indent="-412200">
              <a:lnSpc>
                <a:spcPct val="100000"/>
              </a:lnSpc>
              <a:buClr>
                <a:srgbClr val="434343"/>
              </a:buClr>
              <a:buFont typeface="Montserrat"/>
              <a:buChar char="○"/>
            </a:pPr>
            <a:r>
              <a:rPr b="0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Advanced Users, </a:t>
            </a:r>
            <a:r>
              <a:rPr b="1" i="1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please feel free to use any IDE you prefer</a:t>
            </a:r>
            <a:r>
              <a:rPr b="1" i="1" lang="tr-TR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 </a:t>
            </a:r>
            <a:r>
              <a:rPr b="1" i="1" lang="en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!</a:t>
            </a:r>
            <a:r>
              <a:rPr b="1" i="1" lang="tr-TR" sz="2900" spc="-1" strike="noStrike">
                <a:solidFill>
                  <a:srgbClr val="434343"/>
                </a:solidFill>
                <a:latin typeface="Montserrat"/>
                <a:ea typeface="Montserrat"/>
              </a:rPr>
              <a:t> </a:t>
            </a:r>
            <a:endParaRPr b="0" lang="en-US" sz="2900" spc="-1" strike="noStrike"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1599"/>
              </a:spcBef>
              <a:spcAft>
                <a:spcPts val="1599"/>
              </a:spcAft>
              <a:tabLst>
                <a:tab algn="l" pos="0"/>
              </a:tabLst>
            </a:pPr>
            <a:endParaRPr b="0" lang="en-US" sz="2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1042560" y="295920"/>
            <a:ext cx="7788960" cy="572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tr-TR" sz="2800" spc="-1" strike="noStrike">
                <a:solidFill>
                  <a:srgbClr val="000000"/>
                </a:solidFill>
                <a:latin typeface="Montserrat"/>
                <a:ea typeface="Montserrat"/>
              </a:rPr>
              <a:t>Setup</a:t>
            </a:r>
            <a:br/>
            <a:endParaRPr b="0" lang="en-US" sz="2800" spc="-1" strike="noStrike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311760" y="1152360"/>
            <a:ext cx="8683560" cy="341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Autofit/>
          </a:bodyPr>
          <a:p>
            <a:pPr marL="457200" indent="-3423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- spacy</a:t>
            </a:r>
            <a:endParaRPr b="0" lang="en-US" sz="2000" spc="-1" strike="noStrike">
              <a:latin typeface="Arial"/>
            </a:endParaRPr>
          </a:p>
          <a:p>
            <a:pPr marL="457200" indent="-3423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- numpy</a:t>
            </a:r>
            <a:endParaRPr b="0" lang="en-US" sz="2000" spc="-1" strike="noStrike">
              <a:latin typeface="Arial"/>
            </a:endParaRPr>
          </a:p>
          <a:p>
            <a:pPr marL="457200" indent="-3423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- keras</a:t>
            </a:r>
            <a:endParaRPr b="0" lang="en-US" sz="2000" spc="-1" strike="noStrike">
              <a:latin typeface="Arial"/>
            </a:endParaRPr>
          </a:p>
          <a:p>
            <a:pPr marL="457200" indent="-3423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- matplotlib</a:t>
            </a:r>
            <a:endParaRPr b="0" lang="en-US" sz="2000" spc="-1" strike="noStrike">
              <a:latin typeface="Arial"/>
            </a:endParaRPr>
          </a:p>
          <a:p>
            <a:pPr marL="457200" indent="-3423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- pandas</a:t>
            </a:r>
            <a:endParaRPr b="0" lang="en-US" sz="2000" spc="-1" strike="noStrike">
              <a:latin typeface="Arial"/>
            </a:endParaRPr>
          </a:p>
          <a:p>
            <a:pPr marL="457200" indent="-3423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- nltk</a:t>
            </a:r>
            <a:endParaRPr b="0" lang="en-US" sz="2000" spc="-1" strike="noStrike">
              <a:latin typeface="Arial"/>
            </a:endParaRPr>
          </a:p>
          <a:p>
            <a:pPr marL="457200" indent="-3423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- scikit-learn</a:t>
            </a:r>
            <a:endParaRPr b="0" lang="en-US" sz="2000" spc="-1" strike="noStrike">
              <a:latin typeface="Arial"/>
            </a:endParaRPr>
          </a:p>
          <a:p>
            <a:pPr marL="457200" indent="-3423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- jupyter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endParaRPr b="0" lang="en-US" sz="2000" spc="-1" strike="noStrike">
              <a:latin typeface="Arial"/>
            </a:endParaRPr>
          </a:p>
          <a:p>
            <a:pPr marL="457200" indent="-34236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tr-TR" sz="2000" spc="-1" strike="noStrike">
                <a:solidFill>
                  <a:srgbClr val="000000"/>
                </a:solidFill>
                <a:latin typeface="Courier New"/>
                <a:ea typeface="Arial"/>
              </a:rPr>
              <a:t>Pip, conda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49F764A32FCF104591A571E262DCFC14" ma:contentTypeVersion="0" ma:contentTypeDescription="Yeni belge oluşturun." ma:contentTypeScope="" ma:versionID="2819174f1690e14c79b6ab6906f897b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e022a04d04d6808c359a1120bad346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C50CB2-443B-4532-A8AE-09AEDD660B8C}"/>
</file>

<file path=customXml/itemProps2.xml><?xml version="1.0" encoding="utf-8"?>
<ds:datastoreItem xmlns:ds="http://schemas.openxmlformats.org/officeDocument/2006/customXml" ds:itemID="{B0083F8C-4FEB-43FA-89E6-E26EAD3CD422}"/>
</file>

<file path=customXml/itemProps3.xml><?xml version="1.0" encoding="utf-8"?>
<ds:datastoreItem xmlns:ds="http://schemas.openxmlformats.org/officeDocument/2006/customXml" ds:itemID="{6061C7C0-FFA8-4670-9D09-893FB646F65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</TotalTime>
  <Application>LibreOffice/6.4.7.2$Linux_X86_64 LibreOffice_project/40$Build-2</Application>
  <Words>297</Words>
  <Paragraphs>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</dc:title>
  <dc:subject/>
  <dc:creator/>
  <dc:description/>
  <cp:lastModifiedBy/>
  <cp:revision>17</cp:revision>
  <dcterms:modified xsi:type="dcterms:W3CDTF">2023-10-09T03:53:51Z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14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14</vt:i4>
  </property>
  <property fmtid="{D5CDD505-2E9C-101B-9397-08002B2CF9AE}" pid="12" name="ContentTypeId">
    <vt:lpwstr>0x01010049F764A32FCF104591A571E262DCFC14</vt:lpwstr>
  </property>
</Properties>
</file>